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5"/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y="5143500" cx="9144000"/>
  <p:notesSz cx="6858000" cy="9144000"/>
  <p:embeddedFontLst>
    <p:embeddedFont>
      <p:font typeface="Roboto"/>
      <p:regular r:id="rId43"/>
      <p:bold r:id="rId44"/>
      <p:italic r:id="rId45"/>
      <p:boldItalic r:id="rId46"/>
    </p:embeddedFont>
    <p:embeddedFont>
      <p:font typeface="Arial Narrow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0456F8-1586-4ABE-9938-991B136F99D1}">
  <a:tblStyle styleId="{E60456F8-1586-4ABE-9938-991B136F99D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font" Target="fonts/Roboto-bold.fntdata"/><Relationship Id="rId43" Type="http://schemas.openxmlformats.org/officeDocument/2006/relationships/font" Target="fonts/Roboto-regular.fntdata"/><Relationship Id="rId46" Type="http://schemas.openxmlformats.org/officeDocument/2006/relationships/font" Target="fonts/Roboto-boldItalic.fntdata"/><Relationship Id="rId45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ArialNarrow-bold.fntdata"/><Relationship Id="rId47" Type="http://schemas.openxmlformats.org/officeDocument/2006/relationships/font" Target="fonts/ArialNarrow-regular.fntdata"/><Relationship Id="rId49" Type="http://schemas.openxmlformats.org/officeDocument/2006/relationships/font" Target="fonts/ArialNarrow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0" Type="http://schemas.openxmlformats.org/officeDocument/2006/relationships/font" Target="fonts/ArialNarrow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121320a1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121320a1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121320a13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d121320a13_6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121320a13_6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d121320a13_6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121320a13_6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d121320a13_6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121320a13_6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d121320a13_6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121320a13_6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d121320a13_6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121320a13_6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d121320a13_6_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121320a13_6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121320a13_6_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121320a13_6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d121320a13_6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121320a13_6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d121320a13_6_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121320a1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121320a1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121320a13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d121320a13_2_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121320a13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d121320a13_2_6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121320a13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d121320a13_2_6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121320a13_2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d121320a13_2_7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121320a13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d121320a13_2_7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121320a13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d121320a13_2_8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121320a13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d121320a13_2_8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121320a13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d121320a13_2_9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121320a13_2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d121320a13_2_10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121320a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d121320a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121320a13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d121320a13_8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121320a13_8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d121320a13_8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121320a13_8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d121320a13_8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121320a13_8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d121320a13_8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121320a13_8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d121320a13_8_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121320a13_8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d121320a13_8_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121320a13_8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d121320a13_8_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121320a13_8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d121320a13_8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d121320a13_8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d121320a13_8_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d121320a1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d121320a1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d121320a13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d121320a13_4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d121320a13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d121320a13_4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d121320a13_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d121320a13_4_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ctrTitle"/>
          </p:nvPr>
        </p:nvSpPr>
        <p:spPr>
          <a:xfrm>
            <a:off x="344500" y="1938975"/>
            <a:ext cx="8176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latin typeface="Roboto"/>
                <a:ea typeface="Roboto"/>
                <a:cs typeface="Roboto"/>
                <a:sym typeface="Roboto"/>
              </a:rPr>
              <a:t>Saída</a:t>
            </a:r>
            <a:r>
              <a:rPr b="1" lang="pt-BR" sz="4000">
                <a:latin typeface="Roboto"/>
                <a:ea typeface="Roboto"/>
                <a:cs typeface="Roboto"/>
                <a:sym typeface="Roboto"/>
              </a:rPr>
              <a:t> de dados:</a:t>
            </a:r>
            <a:endParaRPr b="1" sz="4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latin typeface="Roboto"/>
                <a:ea typeface="Roboto"/>
                <a:cs typeface="Roboto"/>
                <a:sym typeface="Roboto"/>
              </a:rPr>
              <a:t>Pressupostos dos modelos</a:t>
            </a:r>
            <a:endParaRPr b="1" sz="4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ctrTitle"/>
          </p:nvPr>
        </p:nvSpPr>
        <p:spPr>
          <a:xfrm>
            <a:off x="344500" y="1938975"/>
            <a:ext cx="8176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latin typeface="Roboto"/>
                <a:ea typeface="Roboto"/>
                <a:cs typeface="Roboto"/>
                <a:sym typeface="Roboto"/>
              </a:rPr>
              <a:t>Modelos para Distâncias</a:t>
            </a:r>
            <a:endParaRPr b="1" sz="4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Google Shape;113;p23"/>
          <p:cNvGraphicFramePr/>
          <p:nvPr/>
        </p:nvGraphicFramePr>
        <p:xfrm>
          <a:off x="491679" y="1489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{E60456F8-1586-4ABE-9938-991B136F99D1}</a:tableStyleId>
              </a:tblPr>
              <a:tblGrid>
                <a:gridCol w="1774625"/>
                <a:gridCol w="897400"/>
                <a:gridCol w="750125"/>
              </a:tblGrid>
              <a:tr h="291375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Estatistica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p_value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Shapiro-Wilk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0.836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Lilliefors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0.086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4" name="Google Shape;114;p23"/>
          <p:cNvSpPr txBox="1"/>
          <p:nvPr>
            <p:ph type="title"/>
          </p:nvPr>
        </p:nvSpPr>
        <p:spPr>
          <a:xfrm>
            <a:off x="0" y="0"/>
            <a:ext cx="7740352" cy="41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lang="pt-BR" sz="2000">
                <a:latin typeface="Arial Narrow"/>
                <a:ea typeface="Arial Narrow"/>
                <a:cs typeface="Arial Narrow"/>
                <a:sym typeface="Arial Narrow"/>
              </a:rPr>
              <a:t>Resultados dos Testes de Normalidade (Resíduos)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457200" y="1200151"/>
            <a:ext cx="3454710" cy="29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 sz="2000"/>
              <a:t>Modelo 1</a:t>
            </a:r>
            <a:endParaRPr sz="2000"/>
          </a:p>
        </p:txBody>
      </p:sp>
      <p:sp>
        <p:nvSpPr>
          <p:cNvPr id="116" name="Google Shape;116;p23"/>
          <p:cNvSpPr txBox="1"/>
          <p:nvPr/>
        </p:nvSpPr>
        <p:spPr>
          <a:xfrm>
            <a:off x="395536" y="3086478"/>
            <a:ext cx="3516374" cy="29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2</a:t>
            </a:r>
            <a:endParaRPr/>
          </a:p>
        </p:txBody>
      </p:sp>
      <p:sp>
        <p:nvSpPr>
          <p:cNvPr id="117" name="Google Shape;117;p23"/>
          <p:cNvSpPr txBox="1"/>
          <p:nvPr/>
        </p:nvSpPr>
        <p:spPr>
          <a:xfrm>
            <a:off x="4925640" y="1200151"/>
            <a:ext cx="3454710" cy="29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3</a:t>
            </a:r>
            <a:endParaRPr/>
          </a:p>
        </p:txBody>
      </p:sp>
      <p:sp>
        <p:nvSpPr>
          <p:cNvPr id="118" name="Google Shape;118;p23"/>
          <p:cNvSpPr txBox="1"/>
          <p:nvPr/>
        </p:nvSpPr>
        <p:spPr>
          <a:xfrm>
            <a:off x="4863976" y="3086478"/>
            <a:ext cx="3516374" cy="29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4</a:t>
            </a:r>
            <a:endParaRPr/>
          </a:p>
        </p:txBody>
      </p:sp>
      <p:graphicFrame>
        <p:nvGraphicFramePr>
          <p:cNvPr id="119" name="Google Shape;119;p23"/>
          <p:cNvGraphicFramePr/>
          <p:nvPr/>
        </p:nvGraphicFramePr>
        <p:xfrm>
          <a:off x="492463" y="33779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{E60456F8-1586-4ABE-9938-991B136F99D1}</a:tableStyleId>
              </a:tblPr>
              <a:tblGrid>
                <a:gridCol w="1774625"/>
                <a:gridCol w="897400"/>
                <a:gridCol w="750125"/>
              </a:tblGrid>
              <a:tr h="291375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Estatistica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p_value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Shapiro-Wilk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0.938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Lilliefors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0.047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0" name="Google Shape;120;p23"/>
          <p:cNvGraphicFramePr/>
          <p:nvPr/>
        </p:nvGraphicFramePr>
        <p:xfrm>
          <a:off x="4923712" y="1489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{E60456F8-1586-4ABE-9938-991B136F99D1}</a:tableStyleId>
              </a:tblPr>
              <a:tblGrid>
                <a:gridCol w="1774625"/>
                <a:gridCol w="897400"/>
                <a:gridCol w="750125"/>
              </a:tblGrid>
              <a:tr h="291375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Estatistica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p_value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Shapiro-Wilk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0.941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Lilliefors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0.050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1" name="Google Shape;121;p23"/>
          <p:cNvGraphicFramePr/>
          <p:nvPr/>
        </p:nvGraphicFramePr>
        <p:xfrm>
          <a:off x="4861264" y="33779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{E60456F8-1586-4ABE-9938-991B136F99D1}</a:tableStyleId>
              </a:tblPr>
              <a:tblGrid>
                <a:gridCol w="1774625"/>
                <a:gridCol w="897400"/>
                <a:gridCol w="750125"/>
              </a:tblGrid>
              <a:tr h="291375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Estatistica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p_value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Shapiro-Wilk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Lilliefors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0.071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2450" y="456600"/>
            <a:ext cx="7199100" cy="468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Gráficos de Resíduos – DIST – Modelo 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914400" y="4114800"/>
            <a:ext cx="3657600" cy="5091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Shapiro-Wilk p-value: 0.698 | Lilliefors p-value: 0.959</a:t>
            </a:r>
            <a:endParaRPr/>
          </a:p>
        </p:txBody>
      </p:sp>
      <p:sp>
        <p:nvSpPr>
          <p:cNvPr id="134" name="Google Shape;134;p25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Efeitos Aleatórios – DIST – Modelo 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750" y="485775"/>
            <a:ext cx="6626100" cy="45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6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Gráficos de Resíduos – DIST – Modelo 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914400" y="4114800"/>
            <a:ext cx="3657600" cy="5091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Shapiro-Wilk p-value: 0.158 | Lilliefors p-value: 0.121</a:t>
            </a:r>
            <a:endParaRPr/>
          </a:p>
        </p:txBody>
      </p:sp>
      <p:sp>
        <p:nvSpPr>
          <p:cNvPr id="147" name="Google Shape;147;p27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Efeitos Aleatórios – DIST – Modelo 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8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Gráficos de Resíduos – DIST – Modelo 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914400" y="4114800"/>
            <a:ext cx="3657600" cy="455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Shapiro-Wilk p-value: 0.109 | Lilliefors p-value: 0.009</a:t>
            </a:r>
            <a:endParaRPr/>
          </a:p>
        </p:txBody>
      </p:sp>
      <p:sp>
        <p:nvSpPr>
          <p:cNvPr id="160" name="Google Shape;160;p29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Efeitos Aleatórios – DIST – Modelo 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30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Gráficos de Resíduos – DIST – Modelo 4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914400" y="4114800"/>
            <a:ext cx="3657600" cy="563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Shapiro-Wilk p-value: 0.597 | Lilliefors p-value: 0.143</a:t>
            </a:r>
            <a:endParaRPr/>
          </a:p>
        </p:txBody>
      </p:sp>
      <p:sp>
        <p:nvSpPr>
          <p:cNvPr id="173" name="Google Shape;173;p31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Efeitos Aleatórios – DIST – Modelo 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ctrTitle"/>
          </p:nvPr>
        </p:nvSpPr>
        <p:spPr>
          <a:xfrm>
            <a:off x="344500" y="1938975"/>
            <a:ext cx="8176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latin typeface="Roboto"/>
                <a:ea typeface="Roboto"/>
                <a:cs typeface="Roboto"/>
                <a:sym typeface="Roboto"/>
              </a:rPr>
              <a:t>Modelos para Acelerações</a:t>
            </a:r>
            <a:endParaRPr b="1" sz="4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" name="Google Shape;183;p33"/>
          <p:cNvGraphicFramePr/>
          <p:nvPr/>
        </p:nvGraphicFramePr>
        <p:xfrm>
          <a:off x="457200" y="14222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{E60456F8-1586-4ABE-9938-991B136F99D1}</a:tableStyleId>
              </a:tblPr>
              <a:tblGrid>
                <a:gridCol w="1774625"/>
                <a:gridCol w="897400"/>
                <a:gridCol w="750125"/>
              </a:tblGrid>
              <a:tr h="291375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Estatistica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p_value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Shapiro-Wilk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0.850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Lilliefors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0.092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84" name="Google Shape;184;p33"/>
          <p:cNvSpPr txBox="1"/>
          <p:nvPr>
            <p:ph type="title"/>
          </p:nvPr>
        </p:nvSpPr>
        <p:spPr>
          <a:xfrm>
            <a:off x="0" y="0"/>
            <a:ext cx="7740352" cy="41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lang="pt-BR" sz="2000">
                <a:latin typeface="Arial Narrow"/>
                <a:ea typeface="Arial Narrow"/>
                <a:cs typeface="Arial Narrow"/>
                <a:sym typeface="Arial Narrow"/>
              </a:rPr>
              <a:t>Resultados dos Testes de Normalidade (Resíduos)</a:t>
            </a:r>
            <a:endParaRPr/>
          </a:p>
        </p:txBody>
      </p:sp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457200" y="1200151"/>
            <a:ext cx="3454710" cy="29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 sz="2000"/>
              <a:t>Modelo 1</a:t>
            </a:r>
            <a:endParaRPr sz="2000"/>
          </a:p>
        </p:txBody>
      </p:sp>
      <p:sp>
        <p:nvSpPr>
          <p:cNvPr id="186" name="Google Shape;186;p33"/>
          <p:cNvSpPr txBox="1"/>
          <p:nvPr/>
        </p:nvSpPr>
        <p:spPr>
          <a:xfrm>
            <a:off x="395536" y="3086478"/>
            <a:ext cx="3516374" cy="29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2</a:t>
            </a:r>
            <a:endParaRPr/>
          </a:p>
        </p:txBody>
      </p:sp>
      <p:sp>
        <p:nvSpPr>
          <p:cNvPr id="187" name="Google Shape;187;p33"/>
          <p:cNvSpPr txBox="1"/>
          <p:nvPr/>
        </p:nvSpPr>
        <p:spPr>
          <a:xfrm>
            <a:off x="4925640" y="1200151"/>
            <a:ext cx="3454710" cy="29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3</a:t>
            </a:r>
            <a:endParaRPr/>
          </a:p>
        </p:txBody>
      </p:sp>
      <p:sp>
        <p:nvSpPr>
          <p:cNvPr id="188" name="Google Shape;188;p33"/>
          <p:cNvSpPr txBox="1"/>
          <p:nvPr/>
        </p:nvSpPr>
        <p:spPr>
          <a:xfrm>
            <a:off x="4863976" y="3086478"/>
            <a:ext cx="3516374" cy="29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4</a:t>
            </a:r>
            <a:endParaRPr/>
          </a:p>
        </p:txBody>
      </p:sp>
      <p:graphicFrame>
        <p:nvGraphicFramePr>
          <p:cNvPr id="189" name="Google Shape;189;p33"/>
          <p:cNvGraphicFramePr/>
          <p:nvPr/>
        </p:nvGraphicFramePr>
        <p:xfrm>
          <a:off x="448017" y="33779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{E60456F8-1586-4ABE-9938-991B136F99D1}</a:tableStyleId>
              </a:tblPr>
              <a:tblGrid>
                <a:gridCol w="1774625"/>
                <a:gridCol w="897400"/>
                <a:gridCol w="750125"/>
              </a:tblGrid>
              <a:tr h="291375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Estatistica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p_value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Shapiro-Wilk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Lilliefors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0.093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0" name="Google Shape;190;p33"/>
          <p:cNvGraphicFramePr/>
          <p:nvPr/>
        </p:nvGraphicFramePr>
        <p:xfrm>
          <a:off x="4883577" y="14222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{E60456F8-1586-4ABE-9938-991B136F99D1}</a:tableStyleId>
              </a:tblPr>
              <a:tblGrid>
                <a:gridCol w="1774625"/>
                <a:gridCol w="897400"/>
                <a:gridCol w="750125"/>
              </a:tblGrid>
              <a:tr h="291375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Estatistica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p_value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Shapiro-Wilk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0.867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Lilliefors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0.092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1" name="Google Shape;191;p33"/>
          <p:cNvGraphicFramePr/>
          <p:nvPr/>
        </p:nvGraphicFramePr>
        <p:xfrm>
          <a:off x="4941915" y="33779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{E60456F8-1586-4ABE-9938-991B136F99D1}</a:tableStyleId>
              </a:tblPr>
              <a:tblGrid>
                <a:gridCol w="1774625"/>
                <a:gridCol w="897400"/>
                <a:gridCol w="750125"/>
              </a:tblGrid>
              <a:tr h="291375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Estatistica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p_value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Shapiro-Wilk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0.953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Lilliefors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0.047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4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Gráficos de Resíduos – ACEL – Modelo 1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5"/>
          <p:cNvSpPr txBox="1"/>
          <p:nvPr>
            <p:ph idx="1" type="body"/>
          </p:nvPr>
        </p:nvSpPr>
        <p:spPr>
          <a:xfrm>
            <a:off x="914400" y="4114800"/>
            <a:ext cx="3657600" cy="5091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Shapiro-Wilk p-value: 0.499 | Lilliefors p-value: 0.923</a:t>
            </a:r>
            <a:endParaRPr/>
          </a:p>
        </p:txBody>
      </p:sp>
      <p:sp>
        <p:nvSpPr>
          <p:cNvPr id="204" name="Google Shape;204;p35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Efeitos Aleatórios – ACEL – Modelo 1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6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Gráficos de Resíduos – ACEL – Modelo 2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7"/>
          <p:cNvSpPr txBox="1"/>
          <p:nvPr>
            <p:ph idx="1" type="body"/>
          </p:nvPr>
        </p:nvSpPr>
        <p:spPr>
          <a:xfrm>
            <a:off x="914400" y="4114800"/>
            <a:ext cx="3657600" cy="61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Shapiro-Wilk p-value: 0.237 | Lilliefors p-value: 0.004</a:t>
            </a:r>
            <a:endParaRPr/>
          </a:p>
        </p:txBody>
      </p:sp>
      <p:sp>
        <p:nvSpPr>
          <p:cNvPr id="217" name="Google Shape;217;p37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Efeitos Aleatórios – ACEL – Modelo 2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8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Gráficos de Resíduos – ACEL – Modelo 3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9"/>
          <p:cNvSpPr txBox="1"/>
          <p:nvPr>
            <p:ph idx="1" type="body"/>
          </p:nvPr>
        </p:nvSpPr>
        <p:spPr>
          <a:xfrm>
            <a:off x="914400" y="4114800"/>
            <a:ext cx="3657600" cy="5091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Shapiro-Wilk p-value: 0.762 | Lilliefors p-value: 0.178</a:t>
            </a:r>
            <a:endParaRPr/>
          </a:p>
        </p:txBody>
      </p:sp>
      <p:sp>
        <p:nvSpPr>
          <p:cNvPr id="230" name="Google Shape;230;p39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Efeitos Aleatórios – ACEL – Modelo 3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0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Gráficos de Resíduos – ACEL – Modelo 4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1"/>
          <p:cNvSpPr txBox="1"/>
          <p:nvPr>
            <p:ph idx="1" type="body"/>
          </p:nvPr>
        </p:nvSpPr>
        <p:spPr>
          <a:xfrm>
            <a:off x="914400" y="4114800"/>
            <a:ext cx="3657600" cy="563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Shapiro-Wilk p-value: 0.014 | Lilliefors p-value: 0.118</a:t>
            </a:r>
            <a:endParaRPr/>
          </a:p>
        </p:txBody>
      </p:sp>
      <p:sp>
        <p:nvSpPr>
          <p:cNvPr id="243" name="Google Shape;243;p41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Efeitos Aleatórios – ACEL – Modelo 4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2"/>
          <p:cNvSpPr txBox="1"/>
          <p:nvPr>
            <p:ph type="ctrTitle"/>
          </p:nvPr>
        </p:nvSpPr>
        <p:spPr>
          <a:xfrm>
            <a:off x="344500" y="1938975"/>
            <a:ext cx="8176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latin typeface="Roboto"/>
                <a:ea typeface="Roboto"/>
                <a:cs typeface="Roboto"/>
                <a:sym typeface="Roboto"/>
              </a:rPr>
              <a:t>Modelos para Desaceleração</a:t>
            </a:r>
            <a:endParaRPr b="1" sz="4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3"/>
          <p:cNvSpPr txBox="1"/>
          <p:nvPr>
            <p:ph type="title"/>
          </p:nvPr>
        </p:nvSpPr>
        <p:spPr>
          <a:xfrm>
            <a:off x="0" y="0"/>
            <a:ext cx="7740352" cy="41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lang="pt-BR" sz="2000">
                <a:latin typeface="Arial Narrow"/>
                <a:ea typeface="Arial Narrow"/>
                <a:cs typeface="Arial Narrow"/>
                <a:sym typeface="Arial Narrow"/>
              </a:rPr>
              <a:t>Resultados dos Testes de Normalidade (Resíduos)</a:t>
            </a:r>
            <a:endParaRPr/>
          </a:p>
        </p:txBody>
      </p:sp>
      <p:sp>
        <p:nvSpPr>
          <p:cNvPr id="254" name="Google Shape;254;p43"/>
          <p:cNvSpPr txBox="1"/>
          <p:nvPr>
            <p:ph idx="1" type="body"/>
          </p:nvPr>
        </p:nvSpPr>
        <p:spPr>
          <a:xfrm>
            <a:off x="457200" y="1200151"/>
            <a:ext cx="3454710" cy="29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 sz="2000"/>
              <a:t>Modelo 1</a:t>
            </a:r>
            <a:endParaRPr sz="2000"/>
          </a:p>
        </p:txBody>
      </p:sp>
      <p:graphicFrame>
        <p:nvGraphicFramePr>
          <p:cNvPr id="255" name="Google Shape;255;p43"/>
          <p:cNvGraphicFramePr/>
          <p:nvPr/>
        </p:nvGraphicFramePr>
        <p:xfrm>
          <a:off x="490729" y="14992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{E60456F8-1586-4ABE-9938-991B136F99D1}</a:tableStyleId>
              </a:tblPr>
              <a:tblGrid>
                <a:gridCol w="1774625"/>
                <a:gridCol w="897400"/>
                <a:gridCol w="750125"/>
              </a:tblGrid>
              <a:tr h="291375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Estatistica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p_value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Shapiro-Wilk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0.854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Lilliefors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0.088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6" name="Google Shape;256;p43"/>
          <p:cNvGraphicFramePr/>
          <p:nvPr/>
        </p:nvGraphicFramePr>
        <p:xfrm>
          <a:off x="489751" y="33779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{E60456F8-1586-4ABE-9938-991B136F99D1}</a:tableStyleId>
              </a:tblPr>
              <a:tblGrid>
                <a:gridCol w="1774625"/>
                <a:gridCol w="897400"/>
                <a:gridCol w="750125"/>
              </a:tblGrid>
              <a:tr h="291375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Estatistica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p_value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Shapiro-Wilk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0.871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Lilliefors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0.085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7" name="Google Shape;257;p43"/>
          <p:cNvGraphicFramePr/>
          <p:nvPr/>
        </p:nvGraphicFramePr>
        <p:xfrm>
          <a:off x="4860032" y="15030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{E60456F8-1586-4ABE-9938-991B136F99D1}</a:tableStyleId>
              </a:tblPr>
              <a:tblGrid>
                <a:gridCol w="1774625"/>
                <a:gridCol w="897400"/>
                <a:gridCol w="750125"/>
              </a:tblGrid>
              <a:tr h="291375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Estatistica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p_value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Shapiro-Wilk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0.869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Lilliefors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0.087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8" name="Google Shape;258;p43"/>
          <p:cNvGraphicFramePr/>
          <p:nvPr/>
        </p:nvGraphicFramePr>
        <p:xfrm>
          <a:off x="4859053" y="3381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{E60456F8-1586-4ABE-9938-991B136F99D1}</a:tableStyleId>
              </a:tblPr>
              <a:tblGrid>
                <a:gridCol w="1774625"/>
                <a:gridCol w="897400"/>
                <a:gridCol w="750125"/>
              </a:tblGrid>
              <a:tr h="291375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Estatistica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p_value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Shapiro-Wilk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0.948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Lilliefors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0.045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59" name="Google Shape;259;p43"/>
          <p:cNvSpPr txBox="1"/>
          <p:nvPr/>
        </p:nvSpPr>
        <p:spPr>
          <a:xfrm>
            <a:off x="395536" y="3086478"/>
            <a:ext cx="3516374" cy="29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2</a:t>
            </a:r>
            <a:endParaRPr/>
          </a:p>
        </p:txBody>
      </p:sp>
      <p:sp>
        <p:nvSpPr>
          <p:cNvPr id="260" name="Google Shape;260;p43"/>
          <p:cNvSpPr txBox="1"/>
          <p:nvPr/>
        </p:nvSpPr>
        <p:spPr>
          <a:xfrm>
            <a:off x="4925640" y="1200151"/>
            <a:ext cx="3454710" cy="29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3</a:t>
            </a:r>
            <a:endParaRPr/>
          </a:p>
        </p:txBody>
      </p:sp>
      <p:sp>
        <p:nvSpPr>
          <p:cNvPr id="261" name="Google Shape;261;p43"/>
          <p:cNvSpPr txBox="1"/>
          <p:nvPr/>
        </p:nvSpPr>
        <p:spPr>
          <a:xfrm>
            <a:off x="4863976" y="3086478"/>
            <a:ext cx="3516374" cy="29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4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"/>
          <p:cNvSpPr txBox="1"/>
          <p:nvPr>
            <p:ph type="title"/>
          </p:nvPr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lang="pt-BR" sz="2000">
                <a:latin typeface="Arial Narrow"/>
                <a:ea typeface="Arial Narrow"/>
                <a:cs typeface="Arial Narrow"/>
                <a:sym typeface="Arial Narrow"/>
              </a:rPr>
              <a:t>Gráficos de Resíduos – DCEL – Modelo 1</a:t>
            </a:r>
            <a:endParaRPr b="1" sz="200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67" name="Google Shape;267;p4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4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5"/>
          <p:cNvSpPr txBox="1"/>
          <p:nvPr>
            <p:ph idx="1" type="body"/>
          </p:nvPr>
        </p:nvSpPr>
        <p:spPr>
          <a:xfrm>
            <a:off x="251520" y="3891286"/>
            <a:ext cx="3657600" cy="61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Shapiro-Wilk p-value: 0.64 | Lilliefors p-value: 0.619</a:t>
            </a:r>
            <a:endParaRPr/>
          </a:p>
        </p:txBody>
      </p:sp>
      <p:sp>
        <p:nvSpPr>
          <p:cNvPr id="274" name="Google Shape;274;p45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Efeitos Aleatórios – DCEL – Modelo 1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6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Gráficos de Resíduos – DCEL – Modelo 2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4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7"/>
          <p:cNvSpPr txBox="1"/>
          <p:nvPr>
            <p:ph idx="1" type="body"/>
          </p:nvPr>
        </p:nvSpPr>
        <p:spPr>
          <a:xfrm>
            <a:off x="914400" y="4114800"/>
            <a:ext cx="3657600" cy="411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Shapiro-Wilk p-value: 0.633 | Lilliefors p-value: 0.84</a:t>
            </a:r>
            <a:endParaRPr/>
          </a:p>
        </p:txBody>
      </p:sp>
      <p:sp>
        <p:nvSpPr>
          <p:cNvPr id="287" name="Google Shape;287;p47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Gráficos de Resíduos – DCEL – Modelo 2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4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8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Gráficos de Resíduos – DCEL – Modelo 3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9"/>
          <p:cNvSpPr txBox="1"/>
          <p:nvPr>
            <p:ph idx="1" type="body"/>
          </p:nvPr>
        </p:nvSpPr>
        <p:spPr>
          <a:xfrm>
            <a:off x="914400" y="4114800"/>
            <a:ext cx="3657600" cy="455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Shapiro-Wilk p-value: 0.908 | Lilliefors p-value: 0.951</a:t>
            </a:r>
            <a:endParaRPr/>
          </a:p>
        </p:txBody>
      </p:sp>
      <p:sp>
        <p:nvSpPr>
          <p:cNvPr id="300" name="Google Shape;300;p49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Gráficos de Resíduos – DCEL – Modelo 3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5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50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Gráficos de Resíduos – DCEL – Modelo 4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51"/>
          <p:cNvSpPr txBox="1"/>
          <p:nvPr>
            <p:ph idx="1" type="body"/>
          </p:nvPr>
        </p:nvSpPr>
        <p:spPr>
          <a:xfrm>
            <a:off x="914400" y="4114800"/>
            <a:ext cx="3657600" cy="411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Shapiro-Wilk p-value: 0.02 | Lilliefors p-value: 0.142</a:t>
            </a:r>
            <a:endParaRPr/>
          </a:p>
        </p:txBody>
      </p:sp>
      <p:sp>
        <p:nvSpPr>
          <p:cNvPr id="313" name="Google Shape;313;p51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Gráficos de Resíduos – DCEL – Modelo 4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2"/>
          <p:cNvSpPr txBox="1"/>
          <p:nvPr>
            <p:ph type="ctrTitle"/>
          </p:nvPr>
        </p:nvSpPr>
        <p:spPr>
          <a:xfrm>
            <a:off x="344500" y="1938975"/>
            <a:ext cx="8176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>
                <a:latin typeface="Roboto"/>
                <a:ea typeface="Roboto"/>
                <a:cs typeface="Roboto"/>
                <a:sym typeface="Roboto"/>
              </a:rPr>
              <a:t>Modelos para TRIMP</a:t>
            </a:r>
            <a:endParaRPr b="1" sz="4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3" name="Google Shape;323;p53"/>
          <p:cNvGraphicFramePr/>
          <p:nvPr/>
        </p:nvGraphicFramePr>
        <p:xfrm>
          <a:off x="9144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{E60456F8-1586-4ABE-9938-991B136F99D1}</a:tableStyleId>
              </a:tblPr>
              <a:tblGrid>
                <a:gridCol w="1774625"/>
                <a:gridCol w="897400"/>
                <a:gridCol w="750125"/>
              </a:tblGrid>
              <a:tr h="291375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Teste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Estatistica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p_value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Shapiro-Wilk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0.971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93900">
                <a:tc>
                  <a:txBody>
                    <a:bodyPr/>
                    <a:lstStyle/>
                    <a:p>
                      <a:pPr indent="0" lvl="0" marL="50800" marR="5080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Lilliefors (Resíduos)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0.039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0800" marR="5080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0" i="0" lang="pt-BR" sz="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0.000</a:t>
                      </a:r>
                      <a:endParaRPr sz="1100"/>
                    </a:p>
                  </a:txBody>
                  <a:tcPr marT="47625" marB="47625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24" name="Google Shape;324;p53"/>
          <p:cNvSpPr txBox="1"/>
          <p:nvPr>
            <p:ph type="title"/>
          </p:nvPr>
        </p:nvSpPr>
        <p:spPr>
          <a:xfrm>
            <a:off x="0" y="0"/>
            <a:ext cx="7740352" cy="4115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lang="pt-BR" sz="2000">
                <a:latin typeface="Arial Narrow"/>
                <a:ea typeface="Arial Narrow"/>
                <a:cs typeface="Arial Narrow"/>
                <a:sym typeface="Arial Narrow"/>
              </a:rPr>
              <a:t>Resultados dos Testes de Normalidade (Resíduos)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5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54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Gráficos de Resíduos – TRIMP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5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55"/>
          <p:cNvSpPr txBox="1"/>
          <p:nvPr>
            <p:ph idx="1" type="body"/>
          </p:nvPr>
        </p:nvSpPr>
        <p:spPr>
          <a:xfrm>
            <a:off x="914400" y="4114800"/>
            <a:ext cx="3657600" cy="563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Shapiro-Wilk p-value: 0.374 | Lilliefors p-value: 0.772</a:t>
            </a:r>
            <a:endParaRPr/>
          </a:p>
        </p:txBody>
      </p:sp>
      <p:sp>
        <p:nvSpPr>
          <p:cNvPr id="337" name="Google Shape;337;p55"/>
          <p:cNvSpPr txBox="1"/>
          <p:nvPr/>
        </p:nvSpPr>
        <p:spPr>
          <a:xfrm>
            <a:off x="0" y="0"/>
            <a:ext cx="8229600" cy="573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Narrow"/>
              <a:buNone/>
            </a:pPr>
            <a:r>
              <a:rPr b="1" i="0" lang="pt-BR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Efeitos Aleatórios – TRIMP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